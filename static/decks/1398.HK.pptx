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6858000" cy="1217980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19050">
              <a:solidFill>
                <a:srgbClr val="A28860"/>
              </a:solidFill>
            </a:ln>
          </c:spPr>
          <c:marker>
            <c:symbol val="none"/>
          </c:marker>
          <c:cat>
            <c:strRef>
              <c:f>Sheet1!$A$2:$A$51</c:f>
              <c:strCache>
                <c:ptCount val="50"/>
                <c:pt idx="0">
                  <c:v>05-13</c:v>
                </c:pt>
                <c:pt idx="1">
                  <c:v>05-20</c:v>
                </c:pt>
                <c:pt idx="2">
                  <c:v>05-27</c:v>
                </c:pt>
                <c:pt idx="3">
                  <c:v>06-03</c:v>
                </c:pt>
                <c:pt idx="4">
                  <c:v>06-10</c:v>
                </c:pt>
                <c:pt idx="5">
                  <c:v>06-17</c:v>
                </c:pt>
                <c:pt idx="6">
                  <c:v>06-24</c:v>
                </c:pt>
                <c:pt idx="7">
                  <c:v>07-02</c:v>
                </c:pt>
                <c:pt idx="8">
                  <c:v>07-09</c:v>
                </c:pt>
                <c:pt idx="9">
                  <c:v>07-16</c:v>
                </c:pt>
                <c:pt idx="10">
                  <c:v>07-23</c:v>
                </c:pt>
                <c:pt idx="11">
                  <c:v>07-30</c:v>
                </c:pt>
                <c:pt idx="12">
                  <c:v>08-06</c:v>
                </c:pt>
                <c:pt idx="13">
                  <c:v>08-13</c:v>
                </c:pt>
                <c:pt idx="14">
                  <c:v>08-20</c:v>
                </c:pt>
                <c:pt idx="15">
                  <c:v>08-27</c:v>
                </c:pt>
                <c:pt idx="16">
                  <c:v>09-03</c:v>
                </c:pt>
                <c:pt idx="17">
                  <c:v>09-10</c:v>
                </c:pt>
                <c:pt idx="18">
                  <c:v>09-17</c:v>
                </c:pt>
                <c:pt idx="19">
                  <c:v>09-24</c:v>
                </c:pt>
                <c:pt idx="20">
                  <c:v>10-02</c:v>
                </c:pt>
                <c:pt idx="21">
                  <c:v>10-10</c:v>
                </c:pt>
                <c:pt idx="22">
                  <c:v>10-17</c:v>
                </c:pt>
                <c:pt idx="23">
                  <c:v>10-24</c:v>
                </c:pt>
                <c:pt idx="24">
                  <c:v>11-03</c:v>
                </c:pt>
                <c:pt idx="25">
                  <c:v>11-10</c:v>
                </c:pt>
                <c:pt idx="26">
                  <c:v>11-17</c:v>
                </c:pt>
                <c:pt idx="27">
                  <c:v>11-24</c:v>
                </c:pt>
                <c:pt idx="28">
                  <c:v>12-01</c:v>
                </c:pt>
                <c:pt idx="29">
                  <c:v>12-08</c:v>
                </c:pt>
                <c:pt idx="30">
                  <c:v>12-15</c:v>
                </c:pt>
                <c:pt idx="31">
                  <c:v>12-22</c:v>
                </c:pt>
                <c:pt idx="32">
                  <c:v>12-31</c:v>
                </c:pt>
                <c:pt idx="33">
                  <c:v>01-08</c:v>
                </c:pt>
                <c:pt idx="34">
                  <c:v>01-15</c:v>
                </c:pt>
                <c:pt idx="35">
                  <c:v>01-22</c:v>
                </c:pt>
                <c:pt idx="36">
                  <c:v>01-29</c:v>
                </c:pt>
                <c:pt idx="37">
                  <c:v>02-05</c:v>
                </c:pt>
                <c:pt idx="38">
                  <c:v>02-12</c:v>
                </c:pt>
                <c:pt idx="39">
                  <c:v>02-24</c:v>
                </c:pt>
                <c:pt idx="40">
                  <c:v>03-03</c:v>
                </c:pt>
                <c:pt idx="41">
                  <c:v>03-10</c:v>
                </c:pt>
                <c:pt idx="42">
                  <c:v>03-17</c:v>
                </c:pt>
                <c:pt idx="43">
                  <c:v>03-24</c:v>
                </c:pt>
                <c:pt idx="44">
                  <c:v>03-31</c:v>
                </c:pt>
                <c:pt idx="45">
                  <c:v>04-10</c:v>
                </c:pt>
                <c:pt idx="46">
                  <c:v>04-17</c:v>
                </c:pt>
                <c:pt idx="47">
                  <c:v>04-24</c:v>
                </c:pt>
                <c:pt idx="48">
                  <c:v>05-04</c:v>
                </c:pt>
                <c:pt idx="49">
                  <c:v>05-11</c:v>
                </c:pt>
              </c:strCache>
            </c:strRef>
          </c:cat>
          <c:val>
            <c:numRef>
              <c:f>Sheet1!$B$2:$B$51</c:f>
              <c:numCache>
                <c:formatCode>General</c:formatCode>
                <c:ptCount val="50"/>
                <c:pt idx="0">
                  <c:v>5.570000171661377</c:v>
                </c:pt>
                <c:pt idx="1">
                  <c:v>5.619999885559082</c:v>
                </c:pt>
                <c:pt idx="2">
                  <c:v>5.699999809265137</c:v>
                </c:pt>
                <c:pt idx="3">
                  <c:v>5.800000190734863</c:v>
                </c:pt>
                <c:pt idx="4">
                  <c:v>6.019999980926514</c:v>
                </c:pt>
                <c:pt idx="5">
                  <c:v>6.090000152587891</c:v>
                </c:pt>
                <c:pt idx="6">
                  <c:v>6.400000095367432</c:v>
                </c:pt>
                <c:pt idx="7">
                  <c:v>6.340000152587891</c:v>
                </c:pt>
                <c:pt idx="8">
                  <c:v>6.099999904632568</c:v>
                </c:pt>
                <c:pt idx="9">
                  <c:v>6.21999979019165</c:v>
                </c:pt>
                <c:pt idx="10">
                  <c:v>6.150000095367432</c:v>
                </c:pt>
                <c:pt idx="11">
                  <c:v>6.050000190734863</c:v>
                </c:pt>
                <c:pt idx="12">
                  <c:v>6.110000133514404</c:v>
                </c:pt>
                <c:pt idx="13">
                  <c:v>6.159999847412109</c:v>
                </c:pt>
                <c:pt idx="14">
                  <c:v>5.929999828338623</c:v>
                </c:pt>
                <c:pt idx="15">
                  <c:v>5.769999980926514</c:v>
                </c:pt>
                <c:pt idx="16">
                  <c:v>5.739999771118164</c:v>
                </c:pt>
                <c:pt idx="17">
                  <c:v>6.0</c:v>
                </c:pt>
                <c:pt idx="18">
                  <c:v>5.980000019073486</c:v>
                </c:pt>
                <c:pt idx="19">
                  <c:v>5.809999942779541</c:v>
                </c:pt>
                <c:pt idx="20">
                  <c:v>5.730000019073486</c:v>
                </c:pt>
                <c:pt idx="21">
                  <c:v>5.659999847412109</c:v>
                </c:pt>
                <c:pt idx="22">
                  <c:v>5.809999942779541</c:v>
                </c:pt>
                <c:pt idx="23">
                  <c:v>6.070000171661377</c:v>
                </c:pt>
                <c:pt idx="24">
                  <c:v>6.170000076293945</c:v>
                </c:pt>
                <c:pt idx="25">
                  <c:v>6.449999809265137</c:v>
                </c:pt>
                <c:pt idx="26">
                  <c:v>6.510000228881836</c:v>
                </c:pt>
                <c:pt idx="27">
                  <c:v>6.489999771118164</c:v>
                </c:pt>
                <c:pt idx="28">
                  <c:v>6.460000038146973</c:v>
                </c:pt>
                <c:pt idx="29">
                  <c:v>6.110000133514404</c:v>
                </c:pt>
                <c:pt idx="30">
                  <c:v>6.090000152587891</c:v>
                </c:pt>
                <c:pt idx="31">
                  <c:v>6.130000114440918</c:v>
                </c:pt>
                <c:pt idx="32">
                  <c:v>6.239999771118164</c:v>
                </c:pt>
                <c:pt idx="33">
                  <c:v>6.099999904632568</c:v>
                </c:pt>
                <c:pt idx="34">
                  <c:v>6.340000152587891</c:v>
                </c:pt>
                <c:pt idx="35">
                  <c:v>6.170000076293945</c:v>
                </c:pt>
                <c:pt idx="36">
                  <c:v>6.639999866485596</c:v>
                </c:pt>
                <c:pt idx="37">
                  <c:v>6.460000038146973</c:v>
                </c:pt>
                <c:pt idx="38">
                  <c:v>6.5</c:v>
                </c:pt>
                <c:pt idx="39">
                  <c:v>6.449999809265137</c:v>
                </c:pt>
                <c:pt idx="40">
                  <c:v>6.449999809265137</c:v>
                </c:pt>
                <c:pt idx="41">
                  <c:v>6.28000020980835</c:v>
                </c:pt>
                <c:pt idx="42">
                  <c:v>6.539999961853027</c:v>
                </c:pt>
                <c:pt idx="43">
                  <c:v>6.510000228881836</c:v>
                </c:pt>
                <c:pt idx="44">
                  <c:v>6.860000133514404</c:v>
                </c:pt>
                <c:pt idx="45">
                  <c:v>6.96999979019165</c:v>
                </c:pt>
                <c:pt idx="46">
                  <c:v>7.03000020980835</c:v>
                </c:pt>
                <c:pt idx="47">
                  <c:v>7.260000228881836</c:v>
                </c:pt>
                <c:pt idx="48">
                  <c:v>6.920000076293945</c:v>
                </c:pt>
                <c:pt idx="49">
                  <c:v>6.980000019073486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solidFill>
                  <a:srgbClr val="9A9A9A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solidFill>
                  <a:srgbClr val="9A9A9A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1  · 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8755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EARNINGS PREVIEW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6035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Georgia"/>
              </a:rPr>
              <a:t>Industrial and Commercial Bank of China Limited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0195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1398.HK  ·  Financials  ·  Banks—Diversified  ·  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57984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Earnings Preview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7066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79806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ANALYST CONSENSUS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RATING  ·  16 ANALYSTS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BUY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56688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56688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21280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TARGET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1280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CNY 8.05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01896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01896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6487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UPSIDE TO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6487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F7D4F"/>
                </a:solidFill>
                <a:latin typeface="Calibri"/>
              </a:rPr>
              <a:t>+31.6%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0050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096511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KEY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LAST CLOSE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CNY 6.12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19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MARKET CAP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19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CNY 2.55T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REPORT 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TBA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P/E (FY EST)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5.4x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DIV. YIELD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496.00%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40679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CURRENCY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79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CNY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95604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504748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RECENT PERFORMANCE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DAY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83227"/>
                </a:solidFill>
                <a:latin typeface="Calibri"/>
              </a:rPr>
              <a:t>-0.7%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19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WEEK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19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7D4F"/>
                </a:solidFill>
                <a:latin typeface="Calibri"/>
              </a:rPr>
              <a:t>+0.7%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316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MONTH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2316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7D4F"/>
                </a:solidFill>
                <a:latin typeface="Calibri"/>
              </a:rPr>
              <a:t>+0.3%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2900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3 MONTHS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2900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7D4F"/>
                </a:solidFill>
                <a:latin typeface="Calibri"/>
              </a:rPr>
              <a:t>+8.9%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484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6 MONTHS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484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7D4F"/>
                </a:solidFill>
                <a:latin typeface="Calibri"/>
              </a:rPr>
              <a:t>+12.2%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0679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YTD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79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7D4F"/>
                </a:solidFill>
                <a:latin typeface="Calibri"/>
              </a:rPr>
              <a:t>+10.4%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59070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599846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52-WEEK RANGE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30935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CNY 5.55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23559" y="630935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5C5C"/>
                </a:solidFill>
                <a:latin typeface="Calibri"/>
              </a:rPr>
              <a:t>CNY 7.26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80160" y="6400799"/>
            <a:ext cx="4297679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280160" y="6400799"/>
            <a:ext cx="1422506" cy="54864"/>
          </a:xfrm>
          <a:prstGeom prst="rect">
            <a:avLst/>
          </a:prstGeom>
          <a:solidFill>
            <a:srgbClr val="A2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iamond 58"/>
          <p:cNvSpPr/>
          <p:nvPr/>
        </p:nvSpPr>
        <p:spPr>
          <a:xfrm>
            <a:off x="2620370" y="6345936"/>
            <a:ext cx="164592" cy="164592"/>
          </a:xfrm>
          <a:prstGeom prst="diamond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62586" y="656539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Calibri"/>
              </a:rPr>
              <a:t>Current  CNY 6.12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696772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705916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ANALYST HIGHLIGHTS  ·  KEY POINTS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7424928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7424928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EARNINGS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07592" y="7406640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Awaiting next print; consensus updates trickling in.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7808976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7808976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VALUATION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07592" y="7790688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Multiple sits in mid-range vs. 5-year history.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8193024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8193024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POSITIONING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07592" y="8174736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Dividend yield in line with sector peers.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1480" y="8577072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1480" y="8577072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WATCH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07592" y="8558784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Management commentary on forward demand is key.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1480" y="8961120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1480" y="896112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RISK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07592" y="8942832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Macro and feedstock-cost volatility remain top risks.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investing, marketscreener, yahoo  |  Generated 14 May 2026  |  Analyst: Jabal Research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1 / 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2  ·  THESIS &amp; EXPECTATIONS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INVESTMENT 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Georgia"/>
              </a:rPr>
              <a:t>Executive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92224"/>
            <a:ext cx="6035040" cy="1691640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92224"/>
            <a:ext cx="45720" cy="169164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83664"/>
            <a:ext cx="5742431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Jabal maintains a constructive view into the upcoming print. Industrial and Commercial Bank of China Limited sits in the Financials sector (Banks—Diversified). Street consensus is buy (16 analysts covering); consensus target 8.05. The shares trade at a P/E around 5.4x trailing earnings. Macro context: local-economy GDP growth recently at 2.5%. The thesis hinges on three factors: demand trajectory through H2, feedstock/input-cost discipline, and management's tone on guidance during the call. We expect the print itself to be within consensus bounds; the read on forward commentary is the swing factor.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6210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712463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Q2 2026 EARNINGS EXPECTATIONS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895344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Jabal estimates vs. consensus  ·  Local currency unless stated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0965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JABAL 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CONSENSUS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Δ VS CONSENSUS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4096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5254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3708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— 06/2026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0.240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437083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626864"/>
            <a:ext cx="6035040" cy="27432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64515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Revenue — 06/2026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210.8B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60" y="464515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91947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(FY est.)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3560" y="491947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5175504"/>
            <a:ext cx="6035040" cy="27432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519379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Revenue (FY est.)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0604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1188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772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3560" y="519379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54681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Dividend yield (TTM)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0604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1188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496.00%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1772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3560" y="54681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6291072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Next print: Aug 28, 2026 (period 06/2026)  ·  Consensus: Investing  ·  16 analysts covering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6748272"/>
            <a:ext cx="2926079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1480" y="6748272"/>
            <a:ext cx="45720" cy="1783080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6072" y="6821424"/>
            <a:ext cx="2743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CATALYSTS</a:t>
            </a:r>
          </a:p>
        </p:txBody>
      </p:sp>
      <p:sp>
        <p:nvSpPr>
          <p:cNvPr id="53" name="Oval 52"/>
          <p:cNvSpPr/>
          <p:nvPr/>
        </p:nvSpPr>
        <p:spPr>
          <a:xfrm>
            <a:off x="594360" y="7223759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5528" y="718718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missed consensus by 4.0% last quarter; 2 of last 4 quarters above estimates</a:t>
            </a:r>
          </a:p>
        </p:txBody>
      </p:sp>
      <p:sp>
        <p:nvSpPr>
          <p:cNvPr id="55" name="Oval 54"/>
          <p:cNvSpPr/>
          <p:nvPr/>
        </p:nvSpPr>
        <p:spPr>
          <a:xfrm>
            <a:off x="594360" y="7644383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5528" y="760780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Constructive guidance on H2 demand and pricing outlook</a:t>
            </a:r>
          </a:p>
        </p:txBody>
      </p:sp>
      <p:sp>
        <p:nvSpPr>
          <p:cNvPr id="57" name="Oval 56"/>
          <p:cNvSpPr/>
          <p:nvPr/>
        </p:nvSpPr>
        <p:spPr>
          <a:xfrm>
            <a:off x="594360" y="8065008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5528" y="80284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Capex/project milestones tracking on schedule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20440" y="6748272"/>
            <a:ext cx="2926079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520440" y="6748272"/>
            <a:ext cx="45720" cy="1783080"/>
          </a:xfrm>
          <a:prstGeom prst="rect">
            <a:avLst/>
          </a:prstGeom>
          <a:solidFill>
            <a:srgbClr val="B83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85032" y="6821424"/>
            <a:ext cx="2743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KEY RISKS</a:t>
            </a:r>
          </a:p>
        </p:txBody>
      </p:sp>
      <p:sp>
        <p:nvSpPr>
          <p:cNvPr id="62" name="Oval 61"/>
          <p:cNvSpPr/>
          <p:nvPr/>
        </p:nvSpPr>
        <p:spPr>
          <a:xfrm>
            <a:off x="3703320" y="7223759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904488" y="718718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Cautious management tone could validate target-price gap</a:t>
            </a:r>
          </a:p>
        </p:txBody>
      </p:sp>
      <p:sp>
        <p:nvSpPr>
          <p:cNvPr id="64" name="Oval 63"/>
          <p:cNvSpPr/>
          <p:nvPr/>
        </p:nvSpPr>
        <p:spPr>
          <a:xfrm>
            <a:off x="3703320" y="7644383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904488" y="760780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Feedstock / input cost volatility pressures margin trajectory</a:t>
            </a:r>
          </a:p>
        </p:txBody>
      </p:sp>
      <p:sp>
        <p:nvSpPr>
          <p:cNvPr id="66" name="Oval 65"/>
          <p:cNvSpPr/>
          <p:nvPr/>
        </p:nvSpPr>
        <p:spPr>
          <a:xfrm>
            <a:off x="3703320" y="8065008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04488" y="80284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Macro / commodity-price softness weighs on top-line growth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871423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80" y="880567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WHAT TO WATCH ON THE PRINT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1480" y="897026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" y="8970264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Forward demand commentary — Q3 order book and pricing trajectory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" y="9217152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9217152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Feedstock cost outlook and supply-chain commentary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1480" y="9464040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" y="9464040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Updated capex schedule and any project-pipeline updates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investing, marketscreener, yahoo  |  Generated 14 May 2026  |  Analyst: Jabal Research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2 / 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3  ·  VALUATION &amp;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MARKET POSITIONING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Georgia"/>
              </a:rPr>
              <a:t>Valuation &amp; Market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92224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52-WEEK PRICE  ·  CNY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11480" y="2029967"/>
          <a:ext cx="2926079" cy="1920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520440" y="1792224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P/E MULTIPLE  ·  5-YEAR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06654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2121408"/>
            <a:ext cx="548502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6142" y="210312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582" y="208483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3.8x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34086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2395727"/>
            <a:ext cx="490026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67666" y="237743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9106" y="235915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3.7x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61518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2670048"/>
            <a:ext cx="414008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391648" y="265176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3088" y="263347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3.5x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88950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360" y="2944368"/>
            <a:ext cx="1267753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245393" y="292607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36833" y="290779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5.0x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16382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0" y="3218688"/>
            <a:ext cx="1647846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25486" y="320040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6926" y="318211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5.7x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34381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23360" y="3493008"/>
            <a:ext cx="1811578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89218" y="347472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80658" y="345643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5.9x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371246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23360" y="3767327"/>
            <a:ext cx="1677084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654724" y="374903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46164" y="373075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5.7x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0440" y="398678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23360" y="4041647"/>
            <a:ext cx="1478266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455906" y="402335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47346" y="400507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5.4x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86200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3x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4x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40679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5x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7x</a:t>
            </a:r>
          </a:p>
        </p:txBody>
      </p:sp>
      <p:sp>
        <p:nvSpPr>
          <p:cNvPr id="49" name="Diamond 48"/>
          <p:cNvSpPr/>
          <p:nvPr/>
        </p:nvSpPr>
        <p:spPr>
          <a:xfrm>
            <a:off x="5428474" y="4242816"/>
            <a:ext cx="146304" cy="146304"/>
          </a:xfrm>
          <a:prstGeom prst="diamond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93066" y="4224528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Calibri"/>
              </a:rPr>
              <a:t>Current  (5.4x)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4544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636007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PEER COMPARABLES  ·  SELECTED GLOBAL PEERS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4837176"/>
            <a:ext cx="1874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COMPANY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31720" y="483717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TICKER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7560" y="483717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MCAP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43400" y="4837176"/>
            <a:ext cx="5943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P/E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83480" y="483717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DIV YIELD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15000" y="483717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1Y RETURN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5074920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5093208"/>
            <a:ext cx="1874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iShares MSCI China ETF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31720" y="5093208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MCHI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37560" y="5093208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$6.6B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43400" y="5093208"/>
            <a:ext cx="5943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83480" y="5093208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+31.1% YTD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15000" y="5093208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2F7D4F"/>
                </a:solidFill>
                <a:latin typeface="Calibri"/>
              </a:rPr>
              <a:t>+4.8%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7635240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7726679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MARKET SENTIMENT  ·  ANALYST CONSENSUS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120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CONSENSUS DISTRIBUTION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1208" y="8220456"/>
            <a:ext cx="1565909" cy="146304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087117" y="8220456"/>
            <a:ext cx="104393" cy="146304"/>
          </a:xfrm>
          <a:prstGeom prst="rect">
            <a:avLst/>
          </a:prstGeom>
          <a:solidFill>
            <a:srgbClr val="A2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21208" y="8421624"/>
            <a:ext cx="16703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Buy 93%   Hold 6%   Sell 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21208" y="8641080"/>
            <a:ext cx="16703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16 analysts covering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48412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48412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59384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AVERAGE TARGET PRICE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593848" y="8202168"/>
            <a:ext cx="1706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CNY 8.05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593848" y="8586216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Range  CNY 5 — 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593848" y="8750808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F7D4F"/>
                </a:solidFill>
                <a:latin typeface="Calibri"/>
              </a:rPr>
              <a:t>Implied +31.6% vs last close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5676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55676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66648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LAST BROKER ACTIONS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666488" y="822045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24-04-19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96840" y="8220456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Nomura Adjusts Industrial And Commercial Bank of China's Price Target to HK$5.08 From HK$4.73, Keep at Buy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666488" y="845820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24-01-26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196840" y="8458200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Nomura Adjusts Industrial And Commercial Bank of China's Price Target to HK$4.73 from HK$4.78, Keeps at Buy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666488" y="86959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23-09-22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196840" y="8695944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Nomura Adjusts Industrial and Commercial Bank of China's Price Target to HK$4.78 From HK$4.9, Keeps at Buy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investing, marketscreener, yahoo  |  Generated 14 May 2026  |  Analyst: Jabal Research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3 / 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