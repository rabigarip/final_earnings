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06-10</c:v>
                </c:pt>
                <c:pt idx="5">
                  <c:v>06-17</c:v>
                </c:pt>
                <c:pt idx="6">
                  <c:v>06-24</c:v>
                </c:pt>
                <c:pt idx="7">
                  <c:v>07-01</c:v>
                </c:pt>
                <c:pt idx="8">
                  <c:v>07-08</c:v>
                </c:pt>
                <c:pt idx="9">
                  <c:v>07-15</c:v>
                </c:pt>
                <c:pt idx="10">
                  <c:v>07-22</c:v>
                </c:pt>
                <c:pt idx="11">
                  <c:v>07-29</c:v>
                </c:pt>
                <c:pt idx="12">
                  <c:v>08-05</c:v>
                </c:pt>
                <c:pt idx="13">
                  <c:v>08-12</c:v>
                </c:pt>
                <c:pt idx="14">
                  <c:v>08-20</c:v>
                </c:pt>
                <c:pt idx="15">
                  <c:v>08-28</c:v>
                </c:pt>
                <c:pt idx="16">
                  <c:v>09-04</c:v>
                </c:pt>
                <c:pt idx="17">
                  <c:v>09-11</c:v>
                </c:pt>
                <c:pt idx="18">
                  <c:v>09-18</c:v>
                </c:pt>
                <c:pt idx="19">
                  <c:v>09-25</c:v>
                </c:pt>
                <c:pt idx="20">
                  <c:v>10-03</c:v>
                </c:pt>
                <c:pt idx="21">
                  <c:v>10-10</c:v>
                </c:pt>
                <c:pt idx="22">
                  <c:v>10-17</c:v>
                </c:pt>
                <c:pt idx="23">
                  <c:v>10-27</c:v>
                </c:pt>
                <c:pt idx="24">
                  <c:v>11-03</c:v>
                </c:pt>
                <c:pt idx="25">
                  <c:v>11-11</c:v>
                </c:pt>
                <c:pt idx="26">
                  <c:v>11-18</c:v>
                </c:pt>
                <c:pt idx="27">
                  <c:v>11-25</c:v>
                </c:pt>
                <c:pt idx="28">
                  <c:v>12-02</c:v>
                </c:pt>
                <c:pt idx="29">
                  <c:v>12-09</c:v>
                </c:pt>
                <c:pt idx="30">
                  <c:v>12-16</c:v>
                </c:pt>
                <c:pt idx="31">
                  <c:v>12-23</c:v>
                </c:pt>
                <c:pt idx="32">
                  <c:v>12-31</c:v>
                </c:pt>
                <c:pt idx="33">
                  <c:v>01-07</c:v>
                </c:pt>
                <c:pt idx="34">
                  <c:v>01-14</c:v>
                </c:pt>
                <c:pt idx="35">
                  <c:v>01-21</c:v>
                </c:pt>
                <c:pt idx="36">
                  <c:v>01-29</c:v>
                </c:pt>
                <c:pt idx="37">
                  <c:v>02-05</c:v>
                </c:pt>
                <c:pt idx="38">
                  <c:v>02-12</c:v>
                </c:pt>
                <c:pt idx="39">
                  <c:v>02-19</c:v>
                </c:pt>
                <c:pt idx="40">
                  <c:v>02-26</c:v>
                </c:pt>
                <c:pt idx="41">
                  <c:v>03-06</c:v>
                </c:pt>
                <c:pt idx="42">
                  <c:v>03-13</c:v>
                </c:pt>
                <c:pt idx="43">
                  <c:v>03-20</c:v>
                </c:pt>
                <c:pt idx="44">
                  <c:v>03-30</c:v>
                </c:pt>
                <c:pt idx="45">
                  <c:v>04-08</c:v>
                </c:pt>
                <c:pt idx="46">
                  <c:v>04-16</c:v>
                </c:pt>
                <c:pt idx="47">
                  <c:v>04-23</c:v>
                </c:pt>
                <c:pt idx="48">
                  <c:v>04-30</c:v>
                </c:pt>
                <c:pt idx="49">
                  <c:v>05-07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909.7000122070312</c:v>
                </c:pt>
                <c:pt idx="1">
                  <c:v>957.5999755859375</c:v>
                </c:pt>
                <c:pt idx="2">
                  <c:v>947.5</c:v>
                </c:pt>
                <c:pt idx="3">
                  <c:v>946.4000244140625</c:v>
                </c:pt>
                <c:pt idx="4">
                  <c:v>973.7000122070312</c:v>
                </c:pt>
                <c:pt idx="5">
                  <c:v>891.0</c:v>
                </c:pt>
                <c:pt idx="6">
                  <c:v>924.2000122070312</c:v>
                </c:pt>
                <c:pt idx="7">
                  <c:v>951.25</c:v>
                </c:pt>
                <c:pt idx="8">
                  <c:v>951.0999755859375</c:v>
                </c:pt>
                <c:pt idx="9">
                  <c:v>943.8499755859375</c:v>
                </c:pt>
                <c:pt idx="10">
                  <c:v>965.0</c:v>
                </c:pt>
                <c:pt idx="11">
                  <c:v>984.3499755859375</c:v>
                </c:pt>
                <c:pt idx="12">
                  <c:v>999.7999877929688</c:v>
                </c:pt>
                <c:pt idx="13">
                  <c:v>998.5</c:v>
                </c:pt>
                <c:pt idx="14">
                  <c:v>1016.25</c:v>
                </c:pt>
                <c:pt idx="15">
                  <c:v>964.7000122070312</c:v>
                </c:pt>
                <c:pt idx="16">
                  <c:v>1031.8499755859375</c:v>
                </c:pt>
                <c:pt idx="17">
                  <c:v>1040.4000244140625</c:v>
                </c:pt>
                <c:pt idx="18">
                  <c:v>1047.6500244140625</c:v>
                </c:pt>
                <c:pt idx="19">
                  <c:v>1051.699951171875</c:v>
                </c:pt>
                <c:pt idx="20">
                  <c:v>1076.5</c:v>
                </c:pt>
                <c:pt idx="21">
                  <c:v>1015.2000122070312</c:v>
                </c:pt>
                <c:pt idx="22">
                  <c:v>1007.5999755859375</c:v>
                </c:pt>
                <c:pt idx="23">
                  <c:v>1034.300048828125</c:v>
                </c:pt>
                <c:pt idx="24">
                  <c:v>1077.0</c:v>
                </c:pt>
                <c:pt idx="25">
                  <c:v>1080.199951171875</c:v>
                </c:pt>
                <c:pt idx="26">
                  <c:v>1066.300048828125</c:v>
                </c:pt>
                <c:pt idx="27">
                  <c:v>1022.5999755859375</c:v>
                </c:pt>
                <c:pt idx="28">
                  <c:v>1028.800048828125</c:v>
                </c:pt>
                <c:pt idx="29">
                  <c:v>1002.7999877929688</c:v>
                </c:pt>
                <c:pt idx="30">
                  <c:v>1011.2000122070312</c:v>
                </c:pt>
                <c:pt idx="31">
                  <c:v>1012.5999755859375</c:v>
                </c:pt>
                <c:pt idx="32">
                  <c:v>1053.800048828125</c:v>
                </c:pt>
                <c:pt idx="33">
                  <c:v>1074.699951171875</c:v>
                </c:pt>
                <c:pt idx="34">
                  <c:v>1040.699951171875</c:v>
                </c:pt>
                <c:pt idx="35">
                  <c:v>1041.4000244140625</c:v>
                </c:pt>
                <c:pt idx="36">
                  <c:v>1159.5999755859375</c:v>
                </c:pt>
                <c:pt idx="37">
                  <c:v>1178.0</c:v>
                </c:pt>
                <c:pt idx="38">
                  <c:v>1203.4000244140625</c:v>
                </c:pt>
                <c:pt idx="39">
                  <c:v>1211.0999755859375</c:v>
                </c:pt>
                <c:pt idx="40">
                  <c:v>1261.0</c:v>
                </c:pt>
                <c:pt idx="41">
                  <c:v>1180.4000244140625</c:v>
                </c:pt>
                <c:pt idx="42">
                  <c:v>1143.300048828125</c:v>
                </c:pt>
                <c:pt idx="43">
                  <c:v>1186.5</c:v>
                </c:pt>
                <c:pt idx="44">
                  <c:v>1113.0999755859375</c:v>
                </c:pt>
                <c:pt idx="45">
                  <c:v>1213.0999755859375</c:v>
                </c:pt>
                <c:pt idx="46">
                  <c:v>1228.300048828125</c:v>
                </c:pt>
                <c:pt idx="47">
                  <c:v>1254.5</c:v>
                </c:pt>
                <c:pt idx="48">
                  <c:v>1223.0999755859375</c:v>
                </c:pt>
                <c:pt idx="49">
                  <c:v>1258.199951171875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Jindal Steel &amp; Power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JINDALSTEL.NS  ·  Materials  ·  Steel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31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INR 1,277.55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+5.2%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 1,214.30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 1.24T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12.4x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0.26%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+2.4%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-1.7%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+2.0%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+4.5%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+16.2%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+16.3%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INR 887.45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INR 1,288.80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349992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469779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4000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INR 1,214.30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Jindal Steel &amp; Power Limited sits in the Materials sector (Steel). Street consensus is buy (31 analysts covering); consensus target 1277.55. The shares trade at a P/E around 12.4x trailing earnings. The macro and commodity backdrop is anchored by coking_coal at 230 $/mt fob Australia (-22.0% YoY); iron_ore at 102 $/dmt cfr China (-12.0% YoY). Macro context: local-economy GDP growth recently at 6.5%.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16.550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166.6B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0.26%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Jul 29, 2026 (period 06/2026)  ·  Consensus: Investing  ·  31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69.8% last quarter; 2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INR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5604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33688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5128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9.6x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14179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9433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0873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9.4x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483149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60789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2229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14.0x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51315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90798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2238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14.4x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89358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1224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2664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32.8x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195360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31243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2683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33.6x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74573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23370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4810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17.5x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36311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40752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2192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12.4x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8x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18x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28x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39x</a:t>
            </a:r>
          </a:p>
        </p:txBody>
      </p:sp>
      <p:sp>
        <p:nvSpPr>
          <p:cNvPr id="49" name="Diamond 48"/>
          <p:cNvSpPr/>
          <p:nvPr/>
        </p:nvSpPr>
        <p:spPr>
          <a:xfrm>
            <a:off x="4313320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77912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(12.4x)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India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INDA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$6.7B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+2.5%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3227"/>
                </a:solidFill>
                <a:latin typeface="Calibri"/>
              </a:rPr>
              <a:t>-10.7%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185377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06585" y="8220456"/>
            <a:ext cx="26940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975988" y="8220456"/>
            <a:ext cx="215523" cy="146304"/>
          </a:xfrm>
          <a:prstGeom prst="rect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70%   Hold 16%   Sell 12%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31 analysts covering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INR 1,277.55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INR 595 — 1,430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+5.2% vs last close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May. 05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Jindal Steel &amp; Power's Price Target to INR1,350 From INR1,280, Keeps at Buy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May. 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Centrum Broking Upgrades Jindal Steel &amp; Power to Buy from Neutral; Price Target is INR1,355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Feb. 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Jindal Steel &amp; Power's Price Target to INR1,280 From INR1,150, Keeps at Buy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