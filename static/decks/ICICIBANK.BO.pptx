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05-15</c:v>
                </c:pt>
                <c:pt idx="1">
                  <c:v>05-22</c:v>
                </c:pt>
                <c:pt idx="2">
                  <c:v>05-29</c:v>
                </c:pt>
                <c:pt idx="3">
                  <c:v>06-05</c:v>
                </c:pt>
                <c:pt idx="4">
                  <c:v>06-12</c:v>
                </c:pt>
                <c:pt idx="5">
                  <c:v>06-19</c:v>
                </c:pt>
                <c:pt idx="6">
                  <c:v>06-26</c:v>
                </c:pt>
                <c:pt idx="7">
                  <c:v>07-03</c:v>
                </c:pt>
                <c:pt idx="8">
                  <c:v>07-10</c:v>
                </c:pt>
                <c:pt idx="9">
                  <c:v>07-17</c:v>
                </c:pt>
                <c:pt idx="10">
                  <c:v>07-24</c:v>
                </c:pt>
                <c:pt idx="11">
                  <c:v>07-31</c:v>
                </c:pt>
                <c:pt idx="12">
                  <c:v>08-07</c:v>
                </c:pt>
                <c:pt idx="13">
                  <c:v>08-14</c:v>
                </c:pt>
                <c:pt idx="14">
                  <c:v>08-22</c:v>
                </c:pt>
                <c:pt idx="15">
                  <c:v>09-01</c:v>
                </c:pt>
                <c:pt idx="16">
                  <c:v>09-08</c:v>
                </c:pt>
                <c:pt idx="17">
                  <c:v>09-15</c:v>
                </c:pt>
                <c:pt idx="18">
                  <c:v>09-22</c:v>
                </c:pt>
                <c:pt idx="19">
                  <c:v>09-29</c:v>
                </c:pt>
                <c:pt idx="20">
                  <c:v>10-07</c:v>
                </c:pt>
                <c:pt idx="21">
                  <c:v>10-14</c:v>
                </c:pt>
                <c:pt idx="22">
                  <c:v>10-21</c:v>
                </c:pt>
                <c:pt idx="23">
                  <c:v>10-29</c:v>
                </c:pt>
                <c:pt idx="24">
                  <c:v>11-06</c:v>
                </c:pt>
                <c:pt idx="25">
                  <c:v>11-13</c:v>
                </c:pt>
                <c:pt idx="26">
                  <c:v>11-20</c:v>
                </c:pt>
                <c:pt idx="27">
                  <c:v>11-27</c:v>
                </c:pt>
                <c:pt idx="28">
                  <c:v>12-04</c:v>
                </c:pt>
                <c:pt idx="29">
                  <c:v>12-11</c:v>
                </c:pt>
                <c:pt idx="30">
                  <c:v>12-18</c:v>
                </c:pt>
                <c:pt idx="31">
                  <c:v>12-26</c:v>
                </c:pt>
                <c:pt idx="32">
                  <c:v>01-02</c:v>
                </c:pt>
                <c:pt idx="33">
                  <c:v>01-09</c:v>
                </c:pt>
                <c:pt idx="34">
                  <c:v>01-19</c:v>
                </c:pt>
                <c:pt idx="35">
                  <c:v>01-27</c:v>
                </c:pt>
                <c:pt idx="36">
                  <c:v>02-03</c:v>
                </c:pt>
                <c:pt idx="37">
                  <c:v>02-10</c:v>
                </c:pt>
                <c:pt idx="38">
                  <c:v>02-17</c:v>
                </c:pt>
                <c:pt idx="39">
                  <c:v>02-24</c:v>
                </c:pt>
                <c:pt idx="40">
                  <c:v>03-04</c:v>
                </c:pt>
                <c:pt idx="41">
                  <c:v>03-11</c:v>
                </c:pt>
                <c:pt idx="42">
                  <c:v>03-18</c:v>
                </c:pt>
                <c:pt idx="43">
                  <c:v>03-25</c:v>
                </c:pt>
                <c:pt idx="44">
                  <c:v>04-06</c:v>
                </c:pt>
                <c:pt idx="45">
                  <c:v>04-13</c:v>
                </c:pt>
                <c:pt idx="46">
                  <c:v>04-21</c:v>
                </c:pt>
                <c:pt idx="47">
                  <c:v>04-28</c:v>
                </c:pt>
                <c:pt idx="48">
                  <c:v>05-06</c:v>
                </c:pt>
                <c:pt idx="49">
                  <c:v>05-13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1450.8499755859375</c:v>
                </c:pt>
                <c:pt idx="1">
                  <c:v>1442.0</c:v>
                </c:pt>
                <c:pt idx="2">
                  <c:v>1456.6500244140625</c:v>
                </c:pt>
                <c:pt idx="3">
                  <c:v>1454.75</c:v>
                </c:pt>
                <c:pt idx="4">
                  <c:v>1425.300048828125</c:v>
                </c:pt>
                <c:pt idx="5">
                  <c:v>1411.3499755859375</c:v>
                </c:pt>
                <c:pt idx="6">
                  <c:v>1439.25</c:v>
                </c:pt>
                <c:pt idx="7">
                  <c:v>1426.199951171875</c:v>
                </c:pt>
                <c:pt idx="8">
                  <c:v>1424.5</c:v>
                </c:pt>
                <c:pt idx="9">
                  <c:v>1419.050048828125</c:v>
                </c:pt>
                <c:pt idx="10">
                  <c:v>1482.699951171875</c:v>
                </c:pt>
                <c:pt idx="11">
                  <c:v>1481.5999755859375</c:v>
                </c:pt>
                <c:pt idx="12">
                  <c:v>1440.050048828125</c:v>
                </c:pt>
                <c:pt idx="13">
                  <c:v>1427.300048828125</c:v>
                </c:pt>
                <c:pt idx="14">
                  <c:v>1436.199951171875</c:v>
                </c:pt>
                <c:pt idx="15">
                  <c:v>1410.699951171875</c:v>
                </c:pt>
                <c:pt idx="16">
                  <c:v>1402.3499755859375</c:v>
                </c:pt>
                <c:pt idx="17">
                  <c:v>1419.5</c:v>
                </c:pt>
                <c:pt idx="18">
                  <c:v>1401.4000244140625</c:v>
                </c:pt>
                <c:pt idx="19">
                  <c:v>1347.050048828125</c:v>
                </c:pt>
                <c:pt idx="20">
                  <c:v>1376.0999755859375</c:v>
                </c:pt>
                <c:pt idx="21">
                  <c:v>1384.0999755859375</c:v>
                </c:pt>
                <c:pt idx="22">
                  <c:v>1382.199951171875</c:v>
                </c:pt>
                <c:pt idx="23">
                  <c:v>1370.550048828125</c:v>
                </c:pt>
                <c:pt idx="24">
                  <c:v>1320.4000244140625</c:v>
                </c:pt>
                <c:pt idx="25">
                  <c:v>1385.949951171875</c:v>
                </c:pt>
                <c:pt idx="26">
                  <c:v>1382.9000244140625</c:v>
                </c:pt>
                <c:pt idx="27">
                  <c:v>1392.050048828125</c:v>
                </c:pt>
                <c:pt idx="28">
                  <c:v>1386.5</c:v>
                </c:pt>
                <c:pt idx="29">
                  <c:v>1359.949951171875</c:v>
                </c:pt>
                <c:pt idx="30">
                  <c:v>1356.9000244140625</c:v>
                </c:pt>
                <c:pt idx="31">
                  <c:v>1350.550048828125</c:v>
                </c:pt>
                <c:pt idx="32">
                  <c:v>1354.800048828125</c:v>
                </c:pt>
                <c:pt idx="33">
                  <c:v>1403.550048828125</c:v>
                </c:pt>
                <c:pt idx="34">
                  <c:v>1379.800048828125</c:v>
                </c:pt>
                <c:pt idx="35">
                  <c:v>1363.3499755859375</c:v>
                </c:pt>
                <c:pt idx="36">
                  <c:v>1389.5999755859375</c:v>
                </c:pt>
                <c:pt idx="37">
                  <c:v>1405.5</c:v>
                </c:pt>
                <c:pt idx="38">
                  <c:v>1407.1500244140625</c:v>
                </c:pt>
                <c:pt idx="39">
                  <c:v>1384.800048828125</c:v>
                </c:pt>
                <c:pt idx="40">
                  <c:v>1364.5</c:v>
                </c:pt>
                <c:pt idx="41">
                  <c:v>1294.449951171875</c:v>
                </c:pt>
                <c:pt idx="42">
                  <c:v>1289.949951171875</c:v>
                </c:pt>
                <c:pt idx="43">
                  <c:v>1259.800048828125</c:v>
                </c:pt>
                <c:pt idx="44">
                  <c:v>1231.300048828125</c:v>
                </c:pt>
                <c:pt idx="45">
                  <c:v>1350.550048828125</c:v>
                </c:pt>
                <c:pt idx="46">
                  <c:v>1388.6500244140625</c:v>
                </c:pt>
                <c:pt idx="47">
                  <c:v>1291.75</c:v>
                </c:pt>
                <c:pt idx="48">
                  <c:v>1279.449951171875</c:v>
                </c:pt>
                <c:pt idx="49">
                  <c:v>1236.0999755859375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ICICI BANK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ICICIBANK.BO  ·  Financial Services  ·  Banks - Regional  ·  BSE (India)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40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STRONG 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INR 1,669.80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+34.2%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 1,244.50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 8.92T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0.88%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-1.6%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-7.7%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-10.9%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-7.3%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-6.9%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INR 1,205.20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INR 1,488.65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595868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1793732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5948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INR 1,244.50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Consensus Strong Buy from 40 analysts covering.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Market cap INR 8.92T — index-eligible scale.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0.88% supports income mandate fit.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Target INR 1,669.80 (+34.2% vs last close).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Crowded long — 38/40 buy ratings raise the expectations bar.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  |  Generated 17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ICICI BANK LTD. sits in the Financial Services sector (Banks - Regional). Street consensus is Strong Buy (40 analysts covering); consensus target 1669.80. Macro context: local-economy GDP growth recently at 6.5%.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INR units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Q2 2026E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QOQ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096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Operating Income (INR)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Net Income (INR)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6451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(INR)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+7.8%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91947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19.35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Estimates: Jabal Research  ·  Consensus: Yahoo (40 analysts)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0.0% last quarter; 2 of last 4 quarters above estimates</a:t>
            </a:r>
          </a:p>
        </p:txBody>
      </p:sp>
      <p:sp>
        <p:nvSpPr>
          <p:cNvPr id="44" name="Oval 43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46" name="Oval 45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51" name="Oval 50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53" name="Oval 52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55" name="Oval 54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  |  Generated 17 May 2026  |  Analyst: Jabal Research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INR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797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P/E history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INDIA BANK PEERS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" y="8220456"/>
            <a:ext cx="1586788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07996" y="8220456"/>
            <a:ext cx="83515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95%   Hold 5%   Sell 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40 analysts covering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INR 1,669.80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INR 1,500 — 1,860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+34.2% vs last close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20 Apr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ICICI Bank's Price Target to INR1,620 From INR1,535, Keeps at Buy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24 Mar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ICICI Bank's Price Target to INR1,535 From INR1,735, Keeps at Buy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19 Jan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Avendus Spark Upgrades ICICI Bank to Buy from Add; Price Target is INR1,627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  |  Generated 17 May 2026  |  Analyst: Jabal Research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