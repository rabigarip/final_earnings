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6858000" cy="1217980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19050">
              <a:solidFill>
                <a:srgbClr val="A28860"/>
              </a:solidFill>
            </a:ln>
          </c:spPr>
          <c:marker>
            <c:symbol val="none"/>
          </c:marker>
          <c:cat>
            <c:strRef>
              <c:f>Sheet1!$A$2:$A$51</c:f>
              <c:strCache>
                <c:ptCount val="50"/>
                <c:pt idx="0">
                  <c:v>05-18</c:v>
                </c:pt>
                <c:pt idx="1">
                  <c:v>05-25</c:v>
                </c:pt>
                <c:pt idx="2">
                  <c:v>06-01</c:v>
                </c:pt>
                <c:pt idx="3">
                  <c:v>06-12</c:v>
                </c:pt>
                <c:pt idx="4">
                  <c:v>06-19</c:v>
                </c:pt>
                <c:pt idx="5">
                  <c:v>06-26</c:v>
                </c:pt>
                <c:pt idx="6">
                  <c:v>07-03</c:v>
                </c:pt>
                <c:pt idx="7">
                  <c:v>07-10</c:v>
                </c:pt>
                <c:pt idx="8">
                  <c:v>07-17</c:v>
                </c:pt>
                <c:pt idx="9">
                  <c:v>07-24</c:v>
                </c:pt>
                <c:pt idx="10">
                  <c:v>07-31</c:v>
                </c:pt>
                <c:pt idx="11">
                  <c:v>08-07</c:v>
                </c:pt>
                <c:pt idx="12">
                  <c:v>08-14</c:v>
                </c:pt>
                <c:pt idx="13">
                  <c:v>08-21</c:v>
                </c:pt>
                <c:pt idx="14">
                  <c:v>08-28</c:v>
                </c:pt>
                <c:pt idx="15">
                  <c:v>09-04</c:v>
                </c:pt>
                <c:pt idx="16">
                  <c:v>09-11</c:v>
                </c:pt>
                <c:pt idx="17">
                  <c:v>09-18</c:v>
                </c:pt>
                <c:pt idx="18">
                  <c:v>09-28</c:v>
                </c:pt>
                <c:pt idx="19">
                  <c:v>10-05</c:v>
                </c:pt>
                <c:pt idx="20">
                  <c:v>10-12</c:v>
                </c:pt>
                <c:pt idx="21">
                  <c:v>10-19</c:v>
                </c:pt>
                <c:pt idx="22">
                  <c:v>10-26</c:v>
                </c:pt>
                <c:pt idx="23">
                  <c:v>11-02</c:v>
                </c:pt>
                <c:pt idx="24">
                  <c:v>11-09</c:v>
                </c:pt>
                <c:pt idx="25">
                  <c:v>11-16</c:v>
                </c:pt>
                <c:pt idx="26">
                  <c:v>11-23</c:v>
                </c:pt>
                <c:pt idx="27">
                  <c:v>11-30</c:v>
                </c:pt>
                <c:pt idx="28">
                  <c:v>12-07</c:v>
                </c:pt>
                <c:pt idx="29">
                  <c:v>12-14</c:v>
                </c:pt>
                <c:pt idx="30">
                  <c:v>12-21</c:v>
                </c:pt>
                <c:pt idx="31">
                  <c:v>12-28</c:v>
                </c:pt>
                <c:pt idx="32">
                  <c:v>01-04</c:v>
                </c:pt>
                <c:pt idx="33">
                  <c:v>01-11</c:v>
                </c:pt>
                <c:pt idx="34">
                  <c:v>01-18</c:v>
                </c:pt>
                <c:pt idx="35">
                  <c:v>01-25</c:v>
                </c:pt>
                <c:pt idx="36">
                  <c:v>02-01</c:v>
                </c:pt>
                <c:pt idx="37">
                  <c:v>02-08</c:v>
                </c:pt>
                <c:pt idx="38">
                  <c:v>02-15</c:v>
                </c:pt>
                <c:pt idx="39">
                  <c:v>02-23</c:v>
                </c:pt>
                <c:pt idx="40">
                  <c:v>03-02</c:v>
                </c:pt>
                <c:pt idx="41">
                  <c:v>03-09</c:v>
                </c:pt>
                <c:pt idx="42">
                  <c:v>03-16</c:v>
                </c:pt>
                <c:pt idx="43">
                  <c:v>03-30</c:v>
                </c:pt>
                <c:pt idx="44">
                  <c:v>04-06</c:v>
                </c:pt>
                <c:pt idx="45">
                  <c:v>04-13</c:v>
                </c:pt>
                <c:pt idx="46">
                  <c:v>04-20</c:v>
                </c:pt>
                <c:pt idx="47">
                  <c:v>04-27</c:v>
                </c:pt>
                <c:pt idx="48">
                  <c:v>05-04</c:v>
                </c:pt>
                <c:pt idx="49">
                  <c:v>05-11</c:v>
                </c:pt>
              </c:strCache>
            </c:strRef>
          </c:cat>
          <c:val>
            <c:numRef>
              <c:f>Sheet1!$B$2:$B$51</c:f>
              <c:numCache>
                <c:formatCode>General</c:formatCode>
                <c:ptCount val="50"/>
                <c:pt idx="0">
                  <c:v>60.29999923706055</c:v>
                </c:pt>
                <c:pt idx="1">
                  <c:v>57.5</c:v>
                </c:pt>
                <c:pt idx="2">
                  <c:v>54.900001525878906</c:v>
                </c:pt>
                <c:pt idx="3">
                  <c:v>55.599998474121094</c:v>
                </c:pt>
                <c:pt idx="4">
                  <c:v>54.20000076293945</c:v>
                </c:pt>
                <c:pt idx="5">
                  <c:v>54.900001525878906</c:v>
                </c:pt>
                <c:pt idx="6">
                  <c:v>56.75</c:v>
                </c:pt>
                <c:pt idx="7">
                  <c:v>55.75</c:v>
                </c:pt>
                <c:pt idx="8">
                  <c:v>55.099998474121094</c:v>
                </c:pt>
                <c:pt idx="9">
                  <c:v>54.29999923706055</c:v>
                </c:pt>
                <c:pt idx="10">
                  <c:v>54.650001525878906</c:v>
                </c:pt>
                <c:pt idx="11">
                  <c:v>57.95000076293945</c:v>
                </c:pt>
                <c:pt idx="12">
                  <c:v>57.29999923706055</c:v>
                </c:pt>
                <c:pt idx="13">
                  <c:v>61.900001525878906</c:v>
                </c:pt>
                <c:pt idx="14">
                  <c:v>61.0</c:v>
                </c:pt>
                <c:pt idx="15">
                  <c:v>59.75</c:v>
                </c:pt>
                <c:pt idx="16">
                  <c:v>59.0</c:v>
                </c:pt>
                <c:pt idx="17">
                  <c:v>60.70000076293945</c:v>
                </c:pt>
                <c:pt idx="18">
                  <c:v>60.400001525878906</c:v>
                </c:pt>
                <c:pt idx="19">
                  <c:v>61.650001525878906</c:v>
                </c:pt>
                <c:pt idx="20">
                  <c:v>60.70000076293945</c:v>
                </c:pt>
                <c:pt idx="21">
                  <c:v>61.900001525878906</c:v>
                </c:pt>
                <c:pt idx="22">
                  <c:v>60.29999923706055</c:v>
                </c:pt>
                <c:pt idx="23">
                  <c:v>59.79999923706055</c:v>
                </c:pt>
                <c:pt idx="24">
                  <c:v>57.45000076293945</c:v>
                </c:pt>
                <c:pt idx="25">
                  <c:v>56.5</c:v>
                </c:pt>
                <c:pt idx="26">
                  <c:v>56.400001525878906</c:v>
                </c:pt>
                <c:pt idx="27">
                  <c:v>54.0</c:v>
                </c:pt>
                <c:pt idx="28">
                  <c:v>55.20000076293945</c:v>
                </c:pt>
                <c:pt idx="29">
                  <c:v>54.0</c:v>
                </c:pt>
                <c:pt idx="30">
                  <c:v>52.29999923706055</c:v>
                </c:pt>
                <c:pt idx="31">
                  <c:v>51.20000076293945</c:v>
                </c:pt>
                <c:pt idx="32">
                  <c:v>50.54999923706055</c:v>
                </c:pt>
                <c:pt idx="33">
                  <c:v>52.70000076293945</c:v>
                </c:pt>
                <c:pt idx="34">
                  <c:v>56.0</c:v>
                </c:pt>
                <c:pt idx="35">
                  <c:v>55.849998474121094</c:v>
                </c:pt>
                <c:pt idx="36">
                  <c:v>55.54999923706055</c:v>
                </c:pt>
                <c:pt idx="37">
                  <c:v>55.400001525878906</c:v>
                </c:pt>
                <c:pt idx="38">
                  <c:v>57.900001525878906</c:v>
                </c:pt>
                <c:pt idx="39">
                  <c:v>56.04999923706055</c:v>
                </c:pt>
                <c:pt idx="40">
                  <c:v>52.20000076293945</c:v>
                </c:pt>
                <c:pt idx="41">
                  <c:v>58.900001525878906</c:v>
                </c:pt>
                <c:pt idx="42">
                  <c:v>57.099998474121094</c:v>
                </c:pt>
                <c:pt idx="43">
                  <c:v>58.400001525878906</c:v>
                </c:pt>
                <c:pt idx="44">
                  <c:v>60.900001525878906</c:v>
                </c:pt>
                <c:pt idx="45">
                  <c:v>59.79999923706055</c:v>
                </c:pt>
                <c:pt idx="46">
                  <c:v>58.75</c:v>
                </c:pt>
                <c:pt idx="47">
                  <c:v>61.20000076293945</c:v>
                </c:pt>
                <c:pt idx="48">
                  <c:v>61.25</c:v>
                </c:pt>
                <c:pt idx="49">
                  <c:v>60.20000076293945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solidFill>
                  <a:srgbClr val="9A9A9A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solidFill>
                  <a:srgbClr val="9A9A9A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1  · 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8755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EARNINGS PREVIEW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6035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Georgia"/>
              </a:rPr>
              <a:t>Saudi Basic Industries Corp.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0195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2010.SR  ·  Basic Materials  ·  Chemicals  ·  Tadawul (Saudi Arabia)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57984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Earnings Preview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7066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798064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ANALYST CONSENSUS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RATING  ·  13 ANALYSTS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OUTPERFORM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56688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56688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21280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TARGET 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1280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SAR 62.50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01896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01896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6487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UPSIDE TO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6487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F7D4F"/>
                </a:solidFill>
                <a:latin typeface="Calibri"/>
              </a:rPr>
              <a:t>+5.1%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0050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096511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KEY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LAST CLOSE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SAR 59.45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19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MARKET CAP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19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SAR 178.3B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REPORT 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TBA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P/E (FY EST)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DIV. YIELD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493.00%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40679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CURRENCY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79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SAR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95604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504748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RECENT PERFORMANCE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DAY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83227"/>
                </a:solidFill>
                <a:latin typeface="Calibri"/>
              </a:rPr>
              <a:t>-2.4%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19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WEEK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19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7D4F"/>
                </a:solidFill>
                <a:latin typeface="Calibri"/>
              </a:rPr>
              <a:t>+0.8%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316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MONTH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2316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83227"/>
                </a:solidFill>
                <a:latin typeface="Calibri"/>
              </a:rPr>
              <a:t>-1.2%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2900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3 MONTHS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2900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7D4F"/>
                </a:solidFill>
                <a:latin typeface="Calibri"/>
              </a:rPr>
              <a:t>+6.9%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3484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6 MONTHS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484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7D4F"/>
                </a:solidFill>
                <a:latin typeface="Calibri"/>
              </a:rPr>
              <a:t>+2.9%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0679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YTD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79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7D4F"/>
                </a:solidFill>
                <a:latin typeface="Calibri"/>
              </a:rPr>
              <a:t>+15.7%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59070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5998464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52-WEEK RANGE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30935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SAR 49.74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23559" y="630935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5C5C"/>
                </a:solidFill>
                <a:latin typeface="Calibri"/>
              </a:rPr>
              <a:t>SAR 62.80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80160" y="6400799"/>
            <a:ext cx="4297679" cy="5486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280160" y="6400799"/>
            <a:ext cx="3195288" cy="54864"/>
          </a:xfrm>
          <a:prstGeom prst="rect">
            <a:avLst/>
          </a:prstGeom>
          <a:solidFill>
            <a:srgbClr val="A28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iamond 58"/>
          <p:cNvSpPr/>
          <p:nvPr/>
        </p:nvSpPr>
        <p:spPr>
          <a:xfrm>
            <a:off x="4393152" y="6345936"/>
            <a:ext cx="164592" cy="164592"/>
          </a:xfrm>
          <a:prstGeom prst="diamond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35368" y="656539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Calibri"/>
              </a:rPr>
              <a:t>Current  SAR 59.45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" y="696772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705916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ANALYST HIGHLIGHTS  ·  KEY POINTS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7424928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7424928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EARNINGS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07592" y="7406640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Consensus Outperform from 13 analysts covering.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7808976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7808976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VALUATION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07592" y="7790688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Market cap SAR 178.3B — institutional-grade liquidity.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8193024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8193024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POSITIONING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07592" y="8174736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Dividend yield 493.00% supports income mandate fit.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1480" y="8577072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1480" y="8577072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WATCH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07592" y="8558784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Target SAR 62.50 (+5.1% vs last close).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1480" y="8961120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1480" y="896112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RISK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07592" y="8942832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Consensus mixed — 11/13 ratings are Hold despite Buy screen (2 Buy · 0 Sell).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Yahoo Finance, MarketScreener, World Bank / IMF, iShares  |  Generated 17 May 2026  |  Analyst: Jabal Research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1 / 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2  ·  THESIS &amp; EXPECTATIONS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INVESTMENT 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Georgia"/>
              </a:rPr>
              <a:t>Executive 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92224"/>
            <a:ext cx="6035040" cy="1691640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792224"/>
            <a:ext cx="45720" cy="169164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83664"/>
            <a:ext cx="5742431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Jabal maintains a constructive view into the upcoming print. Saudi Basic Industries Corp. sits in the Basic Materials sector (Chemicals). Street consensus is Outperform (13 analysts covering); consensus target 62.50. Macro context: local-economy GDP growth recently at 2.0%. The thesis hinges on three factors: demand trajectory through H2, feedstock/input-cost discipline, and management's tone on guidance during the call. We expect the print itself to be within consensus bounds; the read on forward commentary is the swing factor.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6210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712463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Q2 2026 EARNINGS EXPECTATIONS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895344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Jabal estimates vs. consensus  ·  SAR billions unless stated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09651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Q2 2026E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409651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YOY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09651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QOQ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409651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CONSENSUS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5254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37083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Revenue (SARB)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37083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37083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437083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31.2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626864"/>
            <a:ext cx="6035040" cy="27432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64515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EBITDA (SARB)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464515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464515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464515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91947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Net Income (SARB)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491947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491947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57800" y="491947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5175504"/>
            <a:ext cx="6035040" cy="27432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519379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(SAR)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2316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29000" y="519379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43400" y="519379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57800" y="519379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0.47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546811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EBITDA Margin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316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29000" y="546811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546811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57800" y="546811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6291072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Estimates: Jabal Research  ·  Consensus: Yahoo (13 analysts)  ·  Bps = basis points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6748272"/>
            <a:ext cx="2926079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1480" y="6748272"/>
            <a:ext cx="45720" cy="1783080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6072" y="6821424"/>
            <a:ext cx="2743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CATALYSTS</a:t>
            </a:r>
          </a:p>
        </p:txBody>
      </p:sp>
      <p:sp>
        <p:nvSpPr>
          <p:cNvPr id="53" name="Oval 52"/>
          <p:cNvSpPr/>
          <p:nvPr/>
        </p:nvSpPr>
        <p:spPr>
          <a:xfrm>
            <a:off x="594360" y="7223759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5528" y="7187184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Positive quarterly surprise consistent with prior track record</a:t>
            </a:r>
          </a:p>
        </p:txBody>
      </p:sp>
      <p:sp>
        <p:nvSpPr>
          <p:cNvPr id="55" name="Oval 54"/>
          <p:cNvSpPr/>
          <p:nvPr/>
        </p:nvSpPr>
        <p:spPr>
          <a:xfrm>
            <a:off x="594360" y="7644383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5528" y="7607808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Constructive guidance on H2 demand and pricing outlook</a:t>
            </a:r>
          </a:p>
        </p:txBody>
      </p:sp>
      <p:sp>
        <p:nvSpPr>
          <p:cNvPr id="57" name="Oval 56"/>
          <p:cNvSpPr/>
          <p:nvPr/>
        </p:nvSpPr>
        <p:spPr>
          <a:xfrm>
            <a:off x="594360" y="8065008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5528" y="802843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Capex/project milestones tracking on schedule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20440" y="6748272"/>
            <a:ext cx="2926079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520440" y="6748272"/>
            <a:ext cx="45720" cy="1783080"/>
          </a:xfrm>
          <a:prstGeom prst="rect">
            <a:avLst/>
          </a:prstGeom>
          <a:solidFill>
            <a:srgbClr val="B83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85032" y="6821424"/>
            <a:ext cx="2743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KEY RISKS</a:t>
            </a:r>
          </a:p>
        </p:txBody>
      </p:sp>
      <p:sp>
        <p:nvSpPr>
          <p:cNvPr id="62" name="Oval 61"/>
          <p:cNvSpPr/>
          <p:nvPr/>
        </p:nvSpPr>
        <p:spPr>
          <a:xfrm>
            <a:off x="3703320" y="7223759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904488" y="7187184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Cautious management tone could validate target-price gap</a:t>
            </a:r>
          </a:p>
        </p:txBody>
      </p:sp>
      <p:sp>
        <p:nvSpPr>
          <p:cNvPr id="64" name="Oval 63"/>
          <p:cNvSpPr/>
          <p:nvPr/>
        </p:nvSpPr>
        <p:spPr>
          <a:xfrm>
            <a:off x="3703320" y="7644383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904488" y="7607808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Feedstock / input cost volatility pressures margin trajectory</a:t>
            </a:r>
          </a:p>
        </p:txBody>
      </p:sp>
      <p:sp>
        <p:nvSpPr>
          <p:cNvPr id="66" name="Oval 65"/>
          <p:cNvSpPr/>
          <p:nvPr/>
        </p:nvSpPr>
        <p:spPr>
          <a:xfrm>
            <a:off x="3703320" y="8065008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904488" y="802843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Macro / commodity-price softness weighs on top-line growth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871423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1480" y="880567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WHAT TO WATCH ON THE PRINT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1480" y="897026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" y="8970264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Forward demand commentary — Q3 order book and pricing trajectory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" y="9217152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" y="9217152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Feedstock cost outlook and supply-chain commentary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1480" y="9464040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" y="9464040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Updated capex schedule and any project-pipeline updates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Yahoo Finance, MarketScreener, World Bank / IMF, iShares  |  Generated 17 May 2026  |  Analyst: Jabal Research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2 / 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3  ·  VALUATION &amp;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MARKET POSITIONING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Georgia"/>
              </a:rPr>
              <a:t>Valuation &amp; Market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92224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52-WEEK PRICE  ·  SAR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11480" y="2029967"/>
          <a:ext cx="2926079" cy="1920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520440" y="1792224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P/E MULTIPLE  ·  5-YEAR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779776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A9A9A"/>
                </a:solidFill>
                <a:latin typeface="Calibri"/>
              </a:rPr>
              <a:t>No P/E history available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4544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636007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PEER COMPARABLES  ·  GCC CHEMICALS PEERS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837176"/>
            <a:ext cx="1874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COMPANY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483717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TICKER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483717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MCAP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837176"/>
            <a:ext cx="5943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P/E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483717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DIV YIELD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483717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1Y RETURN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5074920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7635240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7726679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MARKET SENTIMENT  ·  ANALYST CONSENSUS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CONSENSUS DISTRIBUTION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1208" y="8220456"/>
            <a:ext cx="256969" cy="146304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8177" y="8220456"/>
            <a:ext cx="1413334" cy="146304"/>
          </a:xfrm>
          <a:prstGeom prst="rect">
            <a:avLst/>
          </a:prstGeom>
          <a:solidFill>
            <a:srgbClr val="A28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" y="8421624"/>
            <a:ext cx="16703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Buy 15%   Hold 84%   Sell 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" y="8641080"/>
            <a:ext cx="16703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13 analysts covering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8412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48412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9384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AVERAGE TARGET PRICE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93848" y="8202168"/>
            <a:ext cx="1706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SAR 62.50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93848" y="8586216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Range  SAR 56.0 — 68.3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93848" y="8750808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F7D4F"/>
                </a:solidFill>
                <a:latin typeface="Calibri"/>
              </a:rPr>
              <a:t>Implied +5.1% vs last close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5676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5676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6648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LAST BROKER ACTIONS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6488" y="822045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05 May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96840" y="8220456"/>
            <a:ext cx="117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Riyad Capital Keeps Sabic at Neutral After Q1 Results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6488" y="845820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29 Apr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96840" y="8458200"/>
            <a:ext cx="117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SNB Capital Affirms Sabic at Neutral Rating, Cuts PT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6488" y="869594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24 Apr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96840" y="8695944"/>
            <a:ext cx="117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SNB Capital Boosts Sabic PT, Maintains Neutral Rating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Yahoo Finance, MarketScreener, World Bank / IMF, iShares  |  Generated 17 May 2026  |  Analyst: Jabal Research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3 /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