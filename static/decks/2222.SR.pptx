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6858000" cy="1217980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19050">
              <a:solidFill>
                <a:srgbClr val="A28860"/>
              </a:solidFill>
            </a:ln>
          </c:spPr>
          <c:marker>
            <c:symbol val="none"/>
          </c:marker>
          <c:cat>
            <c:strRef>
              <c:f>Sheet1!$A$2:$A$51</c:f>
              <c:strCache>
                <c:ptCount val="50"/>
                <c:pt idx="0">
                  <c:v>05-18</c:v>
                </c:pt>
                <c:pt idx="1">
                  <c:v>05-25</c:v>
                </c:pt>
                <c:pt idx="2">
                  <c:v>06-01</c:v>
                </c:pt>
                <c:pt idx="3">
                  <c:v>06-12</c:v>
                </c:pt>
                <c:pt idx="4">
                  <c:v>06-19</c:v>
                </c:pt>
                <c:pt idx="5">
                  <c:v>06-26</c:v>
                </c:pt>
                <c:pt idx="6">
                  <c:v>07-03</c:v>
                </c:pt>
                <c:pt idx="7">
                  <c:v>07-10</c:v>
                </c:pt>
                <c:pt idx="8">
                  <c:v>07-17</c:v>
                </c:pt>
                <c:pt idx="9">
                  <c:v>07-24</c:v>
                </c:pt>
                <c:pt idx="10">
                  <c:v>07-31</c:v>
                </c:pt>
                <c:pt idx="11">
                  <c:v>08-07</c:v>
                </c:pt>
                <c:pt idx="12">
                  <c:v>08-14</c:v>
                </c:pt>
                <c:pt idx="13">
                  <c:v>08-21</c:v>
                </c:pt>
                <c:pt idx="14">
                  <c:v>08-28</c:v>
                </c:pt>
                <c:pt idx="15">
                  <c:v>09-04</c:v>
                </c:pt>
                <c:pt idx="16">
                  <c:v>09-11</c:v>
                </c:pt>
                <c:pt idx="17">
                  <c:v>09-18</c:v>
                </c:pt>
                <c:pt idx="18">
                  <c:v>09-28</c:v>
                </c:pt>
                <c:pt idx="19">
                  <c:v>10-05</c:v>
                </c:pt>
                <c:pt idx="20">
                  <c:v>10-12</c:v>
                </c:pt>
                <c:pt idx="21">
                  <c:v>10-19</c:v>
                </c:pt>
                <c:pt idx="22">
                  <c:v>10-26</c:v>
                </c:pt>
                <c:pt idx="23">
                  <c:v>11-02</c:v>
                </c:pt>
                <c:pt idx="24">
                  <c:v>11-09</c:v>
                </c:pt>
                <c:pt idx="25">
                  <c:v>11-16</c:v>
                </c:pt>
                <c:pt idx="26">
                  <c:v>11-23</c:v>
                </c:pt>
                <c:pt idx="27">
                  <c:v>11-30</c:v>
                </c:pt>
                <c:pt idx="28">
                  <c:v>12-07</c:v>
                </c:pt>
                <c:pt idx="29">
                  <c:v>12-14</c:v>
                </c:pt>
                <c:pt idx="30">
                  <c:v>12-21</c:v>
                </c:pt>
                <c:pt idx="31">
                  <c:v>12-28</c:v>
                </c:pt>
                <c:pt idx="32">
                  <c:v>01-04</c:v>
                </c:pt>
                <c:pt idx="33">
                  <c:v>01-11</c:v>
                </c:pt>
                <c:pt idx="34">
                  <c:v>01-18</c:v>
                </c:pt>
                <c:pt idx="35">
                  <c:v>01-25</c:v>
                </c:pt>
                <c:pt idx="36">
                  <c:v>02-01</c:v>
                </c:pt>
                <c:pt idx="37">
                  <c:v>02-08</c:v>
                </c:pt>
                <c:pt idx="38">
                  <c:v>02-15</c:v>
                </c:pt>
                <c:pt idx="39">
                  <c:v>02-23</c:v>
                </c:pt>
                <c:pt idx="40">
                  <c:v>03-02</c:v>
                </c:pt>
                <c:pt idx="41">
                  <c:v>03-09</c:v>
                </c:pt>
                <c:pt idx="42">
                  <c:v>03-16</c:v>
                </c:pt>
                <c:pt idx="43">
                  <c:v>03-30</c:v>
                </c:pt>
                <c:pt idx="44">
                  <c:v>04-06</c:v>
                </c:pt>
                <c:pt idx="45">
                  <c:v>04-13</c:v>
                </c:pt>
                <c:pt idx="46">
                  <c:v>04-20</c:v>
                </c:pt>
                <c:pt idx="47">
                  <c:v>04-27</c:v>
                </c:pt>
                <c:pt idx="48">
                  <c:v>05-04</c:v>
                </c:pt>
                <c:pt idx="49">
                  <c:v>05-11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26.149999618530273</c:v>
                </c:pt>
                <c:pt idx="1">
                  <c:v>25.0</c:v>
                </c:pt>
                <c:pt idx="2">
                  <c:v>24.81999969482422</c:v>
                </c:pt>
                <c:pt idx="3">
                  <c:v>24.959999084472656</c:v>
                </c:pt>
                <c:pt idx="4">
                  <c:v>24.81999969482422</c:v>
                </c:pt>
                <c:pt idx="5">
                  <c:v>24.299999237060547</c:v>
                </c:pt>
                <c:pt idx="6">
                  <c:v>24.780000686645508</c:v>
                </c:pt>
                <c:pt idx="7">
                  <c:v>25.040000915527344</c:v>
                </c:pt>
                <c:pt idx="8">
                  <c:v>24.420000076293945</c:v>
                </c:pt>
                <c:pt idx="9">
                  <c:v>24.030000686645508</c:v>
                </c:pt>
                <c:pt idx="10">
                  <c:v>24.299999237060547</c:v>
                </c:pt>
                <c:pt idx="11">
                  <c:v>24.34000015258789</c:v>
                </c:pt>
                <c:pt idx="12">
                  <c:v>24.059999465942383</c:v>
                </c:pt>
                <c:pt idx="13">
                  <c:v>23.709999084472656</c:v>
                </c:pt>
                <c:pt idx="14">
                  <c:v>23.700000762939453</c:v>
                </c:pt>
                <c:pt idx="15">
                  <c:v>23.649999618530273</c:v>
                </c:pt>
                <c:pt idx="16">
                  <c:v>23.1299991607666</c:v>
                </c:pt>
                <c:pt idx="17">
                  <c:v>24.469999313354492</c:v>
                </c:pt>
                <c:pt idx="18">
                  <c:v>24.450000762939453</c:v>
                </c:pt>
                <c:pt idx="19">
                  <c:v>24.790000915527344</c:v>
                </c:pt>
                <c:pt idx="20">
                  <c:v>24.5</c:v>
                </c:pt>
                <c:pt idx="21">
                  <c:v>25.15999984741211</c:v>
                </c:pt>
                <c:pt idx="22">
                  <c:v>25.739999771118164</c:v>
                </c:pt>
                <c:pt idx="23">
                  <c:v>25.639999389648438</c:v>
                </c:pt>
                <c:pt idx="24">
                  <c:v>25.700000762939453</c:v>
                </c:pt>
                <c:pt idx="25">
                  <c:v>25.579999923706055</c:v>
                </c:pt>
                <c:pt idx="26">
                  <c:v>25.600000381469727</c:v>
                </c:pt>
                <c:pt idx="27">
                  <c:v>24.540000915527344</c:v>
                </c:pt>
                <c:pt idx="28">
                  <c:v>24.420000076293945</c:v>
                </c:pt>
                <c:pt idx="29">
                  <c:v>23.889999389648438</c:v>
                </c:pt>
                <c:pt idx="30">
                  <c:v>23.829999923706055</c:v>
                </c:pt>
                <c:pt idx="31">
                  <c:v>23.510000228881836</c:v>
                </c:pt>
                <c:pt idx="32">
                  <c:v>23.5</c:v>
                </c:pt>
                <c:pt idx="33">
                  <c:v>24.219999313354492</c:v>
                </c:pt>
                <c:pt idx="34">
                  <c:v>24.979999542236328</c:v>
                </c:pt>
                <c:pt idx="35">
                  <c:v>25.31999969482422</c:v>
                </c:pt>
                <c:pt idx="36">
                  <c:v>25.18000030517578</c:v>
                </c:pt>
                <c:pt idx="37">
                  <c:v>25.5</c:v>
                </c:pt>
                <c:pt idx="38">
                  <c:v>25.780000686645508</c:v>
                </c:pt>
                <c:pt idx="39">
                  <c:v>25.979999542236328</c:v>
                </c:pt>
                <c:pt idx="40">
                  <c:v>26.219999313354492</c:v>
                </c:pt>
                <c:pt idx="41">
                  <c:v>27.1200008392334</c:v>
                </c:pt>
                <c:pt idx="42">
                  <c:v>27.059999465942383</c:v>
                </c:pt>
                <c:pt idx="43">
                  <c:v>26.979999542236328</c:v>
                </c:pt>
                <c:pt idx="44">
                  <c:v>27.5</c:v>
                </c:pt>
                <c:pt idx="45">
                  <c:v>27.600000381469727</c:v>
                </c:pt>
                <c:pt idx="46">
                  <c:v>27.200000762939453</c:v>
                </c:pt>
                <c:pt idx="47">
                  <c:v>27.260000228881836</c:v>
                </c:pt>
                <c:pt idx="48">
                  <c:v>27.5</c:v>
                </c:pt>
                <c:pt idx="49">
                  <c:v>27.639999389648438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700">
                <a:solidFill>
                  <a:srgbClr val="9A9A9A"/>
                </a:solidFill>
                <a:latin typeface="Calibri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1  · 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9875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EARNINGS PREVIEW NOTE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280160"/>
            <a:ext cx="6035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>
                <a:solidFill>
                  <a:srgbClr val="1A1A1A"/>
                </a:solidFill>
                <a:latin typeface="Georgia"/>
              </a:rPr>
              <a:t>Saudi Arabian Oil 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90195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2222.SR  ·  Energy  ·  Oil &amp; Gas Integrated  ·  Tadawul (Saudi Arabia)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57984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A1A1A"/>
                </a:solidFill>
                <a:latin typeface="Calibri"/>
              </a:rPr>
              <a:t>Earnings Preview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7066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7980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CONSENSUS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6072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RATING  ·  18 ANALYSTS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BUY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56688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56688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1280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TARGET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1280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Calibri"/>
              </a:rPr>
              <a:t>SAR 30.08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1896" y="3072384"/>
            <a:ext cx="1944623" cy="749808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01896" y="3072384"/>
            <a:ext cx="45720" cy="749808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6487" y="3145536"/>
            <a:ext cx="176174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UPSIDE TO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6487" y="3328415"/>
            <a:ext cx="1761743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F7D4F"/>
                </a:solidFill>
                <a:latin typeface="Calibri"/>
              </a:rPr>
              <a:t>+8.5%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0050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96511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LAST CLOSE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27.72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1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MARKET CAP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1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 6.70T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REPORT 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2316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TBA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P/E (FY26E)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2900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13.7x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DIV. YIELD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4.90%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40679" y="4370832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CURRENCY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40679" y="4553712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A1A1A"/>
                </a:solidFill>
                <a:latin typeface="Calibri"/>
              </a:rPr>
              <a:t>SAR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495604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504748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RECENT PERFORMANCE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1731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WEEK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1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+1.2%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1 MONTH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+0.8%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2900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3 MONTHS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42900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+8.0%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4840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6 MONTHS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4840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+6.9%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40679" y="5321808"/>
            <a:ext cx="91439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YTD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79" y="5504688"/>
            <a:ext cx="91439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2F7D4F"/>
                </a:solidFill>
                <a:latin typeface="Calibri"/>
              </a:rPr>
              <a:t>+16.2%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5907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11480" y="5998464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52-WEEK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11480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SAR 23.13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23559" y="6309359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C5C5C"/>
                </a:solidFill>
                <a:latin typeface="Calibri"/>
              </a:rPr>
              <a:t>SAR 27.92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280160" y="6400799"/>
            <a:ext cx="4297679" cy="54864"/>
          </a:xfrm>
          <a:prstGeom prst="rect">
            <a:avLst/>
          </a:prstGeom>
          <a:solidFill>
            <a:srgbClr val="9A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80160" y="6400799"/>
            <a:ext cx="4118236" cy="5486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mond 58"/>
          <p:cNvSpPr/>
          <p:nvPr/>
        </p:nvSpPr>
        <p:spPr>
          <a:xfrm>
            <a:off x="5316100" y="6345936"/>
            <a:ext cx="164592" cy="164592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58316" y="656539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>
                <a:solidFill>
                  <a:srgbClr val="1A1A1A"/>
                </a:solidFill>
                <a:latin typeface="Calibri"/>
              </a:rPr>
              <a:t>Current  SAR 27.72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11480" y="696772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11480" y="7059168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ANALYST HIGHLIGHTS  ·  KEY POINTS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11480" y="742492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EARNINGS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07592" y="7406640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Buy from 18 analysts covering.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11480" y="7808976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VALUATION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07592" y="7790688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P/E 13.7x — anchor for re-rate / de-rate debate.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11480" y="8193024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POSITIONING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07592" y="8174736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Dividend yield 4.90% supports income mandate fit.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1480" y="8577072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WATCH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307592" y="8558784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Target SAR 30.08 (+8.5% vs last close).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11480" y="8961120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5C5C5C"/>
                </a:solidFill>
                <a:latin typeface="Calibri"/>
              </a:rPr>
              <a:t>RISK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307592" y="8942832"/>
            <a:ext cx="513892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Consensus mixed — 9/18 ratings are Hold despite Buy screen (9 Buy · 0 Sell).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iShares, World Bank / OPEC / EIA  |  Generated 17 May 2026  |  Analyst: Jabal Research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1 / 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2  ·  THESIS &amp;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INVESTMENT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Executive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792224"/>
            <a:ext cx="6035040" cy="1691640"/>
          </a:xfrm>
          <a:prstGeom prst="rect">
            <a:avLst/>
          </a:prstGeom>
          <a:solidFill>
            <a:srgbClr val="EFE8DC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792224"/>
            <a:ext cx="45720" cy="169164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883664"/>
            <a:ext cx="5742431" cy="1508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Jabal maintains a constructive view into the upcoming print. Saudi Arabian Oil Co. sits in the Energy sector (Oil &amp; Gas Integrated). Street consensus is Buy (18 analysts covering); consensus target 30.08. The macro and commodity backdrop is anchored by brent at 75  (-12.8% YoY); wti at 70  (-13.6% YoY). Macro context: local-economy GDP growth recently at 2.0%. The thesis hinges on three factors: demand trajectory through H2, feedstock/input-cost discipline, and management's tone on guidance during the call. We expect the print itself to be within consensus bounds; the read on forward commentary is the swing factor.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62102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712463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Q2 2026 EARNINGS EXPECTATIONS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895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Jabal estimates vs. consensus  ·  SAR billions unless stated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0965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965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Q2 2026E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YOY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0965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QOQ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40965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CONSENSUS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52544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437083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Revenue (SARB)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437083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+28.0%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437083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521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" y="462686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4515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(SARB)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464515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290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464515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464515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1947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Net Income (SARB)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491947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290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491947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800" y="491947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5175504"/>
            <a:ext cx="6035040" cy="27432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19379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(SAR)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519379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290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2F7D4F"/>
                </a:solidFill>
                <a:latin typeface="Calibri"/>
              </a:rPr>
              <a:t>+52.0%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43400" y="519379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800" y="519379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0.53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5468112"/>
            <a:ext cx="1965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EBITDA Margin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23160" y="5468112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43400" y="5468112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57800" y="54681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" y="6291072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Estimates: Jabal Research  ·  Consensus: Investing (18 analysts)  ·  Bps = basis points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1148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11480" y="6748272"/>
            <a:ext cx="45720" cy="178308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607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CATALYSTS</a:t>
            </a:r>
          </a:p>
        </p:txBody>
      </p:sp>
      <p:sp>
        <p:nvSpPr>
          <p:cNvPr id="53" name="Oval 52"/>
          <p:cNvSpPr/>
          <p:nvPr/>
        </p:nvSpPr>
        <p:spPr>
          <a:xfrm>
            <a:off x="594360" y="7223759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EPS missed consensus by 0.0% last quarter; 1 of last 4 quarters above estimates</a:t>
            </a:r>
          </a:p>
        </p:txBody>
      </p:sp>
      <p:sp>
        <p:nvSpPr>
          <p:cNvPr id="55" name="Oval 54"/>
          <p:cNvSpPr/>
          <p:nvPr/>
        </p:nvSpPr>
        <p:spPr>
          <a:xfrm>
            <a:off x="594360" y="7644383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552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Constructive guidance on H2 demand and pricing outlook</a:t>
            </a:r>
          </a:p>
        </p:txBody>
      </p:sp>
      <p:sp>
        <p:nvSpPr>
          <p:cNvPr id="57" name="Oval 56"/>
          <p:cNvSpPr/>
          <p:nvPr/>
        </p:nvSpPr>
        <p:spPr>
          <a:xfrm>
            <a:off x="594360" y="8065008"/>
            <a:ext cx="109728" cy="109728"/>
          </a:xfrm>
          <a:prstGeom prst="ellipse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9552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Capex/project milestones tracking on schedule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520440" y="6748272"/>
            <a:ext cx="2926079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520440" y="6748272"/>
            <a:ext cx="45720" cy="1783080"/>
          </a:xfrm>
          <a:prstGeom prst="rect">
            <a:avLst/>
          </a:prstGeom>
          <a:solidFill>
            <a:srgbClr val="B83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685032" y="6821424"/>
            <a:ext cx="2743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KEY RISKS</a:t>
            </a:r>
          </a:p>
        </p:txBody>
      </p:sp>
      <p:sp>
        <p:nvSpPr>
          <p:cNvPr id="62" name="Oval 61"/>
          <p:cNvSpPr/>
          <p:nvPr/>
        </p:nvSpPr>
        <p:spPr>
          <a:xfrm>
            <a:off x="3703320" y="7223759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904488" y="7187184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Cautious management tone could validate target-price gap</a:t>
            </a:r>
          </a:p>
        </p:txBody>
      </p:sp>
      <p:sp>
        <p:nvSpPr>
          <p:cNvPr id="64" name="Oval 63"/>
          <p:cNvSpPr/>
          <p:nvPr/>
        </p:nvSpPr>
        <p:spPr>
          <a:xfrm>
            <a:off x="3703320" y="7644383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04488" y="7607808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/ input cost volatility pressures margin trajectory</a:t>
            </a:r>
          </a:p>
        </p:txBody>
      </p:sp>
      <p:sp>
        <p:nvSpPr>
          <p:cNvPr id="66" name="Oval 65"/>
          <p:cNvSpPr/>
          <p:nvPr/>
        </p:nvSpPr>
        <p:spPr>
          <a:xfrm>
            <a:off x="3703320" y="8065008"/>
            <a:ext cx="109728" cy="109728"/>
          </a:xfrm>
          <a:prstGeom prst="ellipse">
            <a:avLst/>
          </a:prstGeom>
          <a:solidFill>
            <a:srgbClr val="B83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04488" y="8028432"/>
            <a:ext cx="246887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Macro / commodity-price softness weighs on top-line growth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871423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11480" y="880567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WHAT TO WATCH ON THE PRINT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" y="8970264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8970264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Forward demand commentary — Q3 order book and pricing trajectory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" y="9217152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9217152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Feedstock cost outlook and supply-chain commentary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11480" y="9464040"/>
            <a:ext cx="228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A28860"/>
                </a:solidFill>
                <a:latin typeface="Calibri"/>
              </a:rPr>
              <a:t>3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9464040"/>
            <a:ext cx="57607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Updated capex schedule and any project-pipeline updates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iShares, World Bank / OPEC / EIA  |  Generated 17 May 2026  |  Analyst: Jabal Research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2 / 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Georgia"/>
              </a:rPr>
              <a:t>JABAL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303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ASSET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329184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1A1A1A"/>
                </a:solidFill>
                <a:latin typeface="Calibri"/>
              </a:rPr>
              <a:t>PAGE 3  ·  VALUATION &amp; POSITIONING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5303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INSTITUTIONAL RESEARCH  ·  EQUITY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80467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87552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078992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POSITIONING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28016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Georgia"/>
              </a:rPr>
              <a:t>Valuation &amp; Market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52-WEEK PRICE  ·  SAR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11480" y="2029967"/>
          <a:ext cx="2926079" cy="1920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520440" y="1792224"/>
            <a:ext cx="292607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P/E MULTIPLE  ·  5-YEAR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066543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FY2026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2121408"/>
            <a:ext cx="1332411" cy="73152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310051" y="2103120"/>
            <a:ext cx="91440" cy="109728"/>
          </a:xfrm>
          <a:prstGeom prst="ellipse">
            <a:avLst/>
          </a:prstGeom>
          <a:solidFill>
            <a:srgbClr val="7E68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1491" y="20848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13.7x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11x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13x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79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14x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377439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9A9A9A"/>
                </a:solidFill>
                <a:latin typeface="Calibri"/>
              </a:rPr>
              <a:t>16x</a:t>
            </a:r>
          </a:p>
        </p:txBody>
      </p:sp>
      <p:sp>
        <p:nvSpPr>
          <p:cNvPr id="21" name="Diamond 20"/>
          <p:cNvSpPr/>
          <p:nvPr/>
        </p:nvSpPr>
        <p:spPr>
          <a:xfrm>
            <a:off x="5282619" y="2322575"/>
            <a:ext cx="146304" cy="146304"/>
          </a:xfrm>
          <a:prstGeom prst="diamond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7211" y="2304287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Calibri"/>
              </a:rPr>
              <a:t>Current  (13.7x)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544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636007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PEER COMPARABLES  ·  GCC OIL &amp; GAS PEERS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4837176"/>
            <a:ext cx="1874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COMPANY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2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9A9A9A"/>
                </a:solidFill>
                <a:latin typeface="Calibri"/>
              </a:rPr>
              <a:t>TICKER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4837176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MCAP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4837176"/>
            <a:ext cx="5943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P/E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8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DIV YIELD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483717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9A9A9A"/>
                </a:solidFill>
                <a:latin typeface="Calibri"/>
              </a:rPr>
              <a:t>1Y RETURN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507492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7635240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7726679"/>
            <a:ext cx="6035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5C5C5C"/>
                </a:solidFill>
                <a:latin typeface="Calibri"/>
              </a:rPr>
              <a:t>MARKET SENTIMENT  ·  ANALYST CONSENSUS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1148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120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CONSENSUS DISTRIBUTION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1208" y="8220456"/>
            <a:ext cx="835151" cy="146304"/>
          </a:xfrm>
          <a:prstGeom prst="rect">
            <a:avLst/>
          </a:prstGeom>
          <a:solidFill>
            <a:srgbClr val="2F7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56360" y="8220456"/>
            <a:ext cx="835151" cy="146304"/>
          </a:xfrm>
          <a:prstGeom prst="rect">
            <a:avLst/>
          </a:prstGeom>
          <a:solidFill>
            <a:srgbClr val="A288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" y="8421624"/>
            <a:ext cx="167030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Buy 50%   Hold 50%   Sell 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21208" y="8641080"/>
            <a:ext cx="167030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C5C5C"/>
                </a:solidFill>
                <a:latin typeface="Calibri"/>
              </a:rPr>
              <a:t>18 analysts covering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48412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48412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9384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AVERAGE TARGET PRICE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93848" y="8202168"/>
            <a:ext cx="1706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Calibri"/>
              </a:rPr>
              <a:t>SAR 30.08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93848" y="8586216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alibri"/>
              </a:rPr>
              <a:t>Range  SAR 26.8 — 35.0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93848" y="8750808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2F7D4F"/>
                </a:solidFill>
                <a:latin typeface="Calibri"/>
              </a:rPr>
              <a:t>Implied +8.5% vs last close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56760" y="7909560"/>
            <a:ext cx="1889759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56760" y="7909560"/>
            <a:ext cx="45720" cy="1051560"/>
          </a:xfrm>
          <a:prstGeom prst="rect">
            <a:avLst/>
          </a:prstGeom>
          <a:solidFill>
            <a:srgbClr val="A28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66488" y="8001000"/>
            <a:ext cx="170687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>
                <a:solidFill>
                  <a:srgbClr val="9A9A9A"/>
                </a:solidFill>
                <a:latin typeface="Calibri"/>
              </a:rPr>
              <a:t>LAST BROKER ACTIONS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6488" y="8220456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14 May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96840" y="8220456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BNP Paribas Lifts Saudi Aramco's PT, Affirms Neutral Rating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6488" y="845820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12 May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96840" y="8458200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Kepler Cheuvreux Raises Saudi Aramco's PT, Affirms Hold Rating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66488" y="8695944"/>
            <a:ext cx="502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C5C5C"/>
                </a:solidFill>
                <a:latin typeface="Calibri"/>
              </a:rPr>
              <a:t>12 May 2026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196840" y="8695944"/>
            <a:ext cx="117652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  <a:latin typeface="Calibri"/>
              </a:rPr>
              <a:t>HSBC Lifts Saudi Aramco's PT, Affirms Hold Rating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11480" y="11402568"/>
            <a:ext cx="6035040" cy="4572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11480" y="11466576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Source: Investing.com, Yahoo Finance, MarketScreener, World Bank / IMF, iShares, World Bank / OPEC / EIA  |  Generated 17 May 2026  |  Analyst: Jabal Research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1480" y="11795760"/>
            <a:ext cx="5029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5C5C5C"/>
                </a:solidFill>
                <a:latin typeface="Calibri"/>
              </a:rPr>
              <a:t>Jabal Asset Management  ·  Regulated by the Financial Services Authority of Oman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532120" y="11795760"/>
            <a:ext cx="914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>
                <a:solidFill>
                  <a:srgbClr val="5C5C5C"/>
                </a:solidFill>
                <a:latin typeface="Calibri"/>
              </a:rPr>
              <a:t>3 / 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11480" y="11960352"/>
            <a:ext cx="60350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>
                <a:solidFill>
                  <a:srgbClr val="9A9A9A"/>
                </a:solidFill>
                <a:latin typeface="Calibri"/>
              </a:rPr>
              <a:t>CONFIDENTIAL  ·  FOR INSTITUTIONAL &amp; QUALIFIED INVESTORS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